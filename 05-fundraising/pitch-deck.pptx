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Overpass" panose="020B0604020202020204" charset="0"/>
      <p:regular r:id="rId13"/>
    </p:embeddedFont>
    <p:embeddedFont>
      <p:font typeface="Overpass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121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43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E0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978720"/>
            <a:ext cx="6833223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DRIFTLESS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98086" y="3087489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API contracts that never go stale.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98086" y="4559995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driftless.nikatopu.dev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560685"/>
            <a:ext cx="6191095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The Pain Is Real and Validated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52476" y="1509713"/>
            <a:ext cx="1115061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"Actual API behavior doesn't match documentation."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2476" y="2247007"/>
            <a:ext cx="1115061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"Costs hours or days of rework."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2476" y="2984302"/>
            <a:ext cx="1115061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"Blocked until backend writes documentation."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185" y="3559473"/>
            <a:ext cx="1140491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 Discovery interview participants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9024" y="4057253"/>
            <a:ext cx="2956546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39926" y="4809629"/>
            <a:ext cx="19947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Discovery interviews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426" y="4057253"/>
            <a:ext cx="295664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43163" y="4809629"/>
            <a:ext cx="210517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Validation participants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75927" y="4057253"/>
            <a:ext cx="295664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70%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756927" y="4809629"/>
            <a:ext cx="19947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Willing to try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8185" y="5305822"/>
            <a:ext cx="2388830" cy="211931"/>
          </a:xfrm>
          <a:prstGeom prst="roundRect">
            <a:avLst>
              <a:gd name="adj" fmla="val 3360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8185" y="5305822"/>
            <a:ext cx="1982639" cy="211931"/>
          </a:xfrm>
          <a:prstGeom prst="roundRect">
            <a:avLst>
              <a:gd name="adj" fmla="val 3360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4111" y="5305822"/>
            <a:ext cx="44061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83%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98185" y="5710535"/>
            <a:ext cx="237811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Documentation Mismatch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8185" y="6046291"/>
            <a:ext cx="347832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Pain 5/5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56586" y="5305822"/>
            <a:ext cx="2388929" cy="211931"/>
          </a:xfrm>
          <a:prstGeom prst="roundRect">
            <a:avLst>
              <a:gd name="adj" fmla="val 3360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56586" y="5305822"/>
            <a:ext cx="1982738" cy="211931"/>
          </a:xfrm>
          <a:prstGeom prst="roundRect">
            <a:avLst>
              <a:gd name="adj" fmla="val 3360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72612" y="5305822"/>
            <a:ext cx="44061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83%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356586" y="5710535"/>
            <a:ext cx="25352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Rework &amp; Debugging Loops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356586" y="6046291"/>
            <a:ext cx="347842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Pain 4/5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15087" y="5305822"/>
            <a:ext cx="2388830" cy="211931"/>
          </a:xfrm>
          <a:prstGeom prst="roundRect">
            <a:avLst>
              <a:gd name="adj" fmla="val 3360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15087" y="5305822"/>
            <a:ext cx="1576546" cy="211931"/>
          </a:xfrm>
          <a:prstGeom prst="roundRect">
            <a:avLst>
              <a:gd name="adj" fmla="val 3360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31013" y="5305822"/>
            <a:ext cx="44071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66%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015087" y="5710535"/>
            <a:ext cx="202212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Missing API Contracts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015087" y="6046291"/>
            <a:ext cx="347842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Pain 5/5</a:t>
            </a:r>
            <a:endParaRPr lang="en-US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85A156-08E6-6385-AB8E-0496399253AF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677267"/>
            <a:ext cx="701220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Paste a URL. Get Every Contract.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1629370"/>
            <a:ext cx="3144263" cy="3144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6178" y="2928739"/>
            <a:ext cx="6863682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DRIFTLESS extracts every API contract, route, and TypeScript type </a:t>
            </a:r>
            <a:r>
              <a:rPr lang="en-US" sz="14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directly from the implementation</a:t>
            </a: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no annotations, no configuration, no drift.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786" y="5137249"/>
            <a:ext cx="5342300" cy="10434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9265" y="5342136"/>
            <a:ext cx="219883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Built for ASP.NET Core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79265" y="5703094"/>
            <a:ext cx="48309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Targets professional .NET backend teams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1210" y="5137249"/>
            <a:ext cx="5342300" cy="10434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57689" y="5342136"/>
            <a:ext cx="211211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Powered by Roslyn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457689" y="5703094"/>
            <a:ext cx="48309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Microsoft's C# compiler API — compiler-accurate output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E0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764778"/>
            <a:ext cx="1053776" cy="374848"/>
          </a:xfrm>
          <a:prstGeom prst="roundRect">
            <a:avLst>
              <a:gd name="adj" fmla="val 17881"/>
            </a:avLst>
          </a:prstGeom>
          <a:solidFill>
            <a:srgbClr val="4C0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17740" y="824607"/>
            <a:ext cx="1424051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8086" y="1219398"/>
            <a:ext cx="534736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driftless.nikatopu.dev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698086" y="2105223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public ASP.NET Core repository URL submitted. Every endpoint discovered. TypeScript interfaces generated.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Zero configuration required.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8086" y="3287117"/>
            <a:ext cx="3012107" cy="1462881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03860" y="3492897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① Input URL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3860" y="3905845"/>
            <a:ext cx="26005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Any public GitHub repo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909617" y="3287117"/>
            <a:ext cx="3012107" cy="1462881"/>
          </a:xfrm>
          <a:prstGeom prst="roundRect">
            <a:avLst>
              <a:gd name="adj" fmla="val 5727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5392" y="3492897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② Routes Discovered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115392" y="3905845"/>
            <a:ext cx="26005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All endpoints extracted automatically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8086" y="4949428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03860" y="515520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③ TypeScript Output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3860" y="5568156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Interfaces ready to import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519" y="581521"/>
            <a:ext cx="6430306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 Credible, Bottom-Up Market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2519" y="2544167"/>
            <a:ext cx="5097732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Three concentric circles from the broadest addressable market down to our focused year-one opportunity — each grounded in visible arithmetic.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82519" y="3484860"/>
            <a:ext cx="5097732" cy="117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TAM:</a:t>
            </a: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15M developers × $180/yr = </a:t>
            </a: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$2.7B/yr</a:t>
            </a:r>
            <a:endParaRPr lang="en-US" sz="13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SAM:</a:t>
            </a: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2.86M ASP.NET Core devs (19.1% of pros, Stack Overflow 2024) = </a:t>
            </a: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$515.7M/yr</a:t>
            </a:r>
            <a:endParaRPr lang="en-US" sz="13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SOM:</a:t>
            </a: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1,290 users | 206 paid = </a:t>
            </a:r>
            <a:r>
              <a:rPr lang="en-US" sz="1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$37,080 annualized run-rate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82519" y="4801691"/>
            <a:ext cx="5707317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Source: Stack Overflow Developer Survey 2024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94" y="1512193"/>
            <a:ext cx="4587959" cy="45880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BFCA12-DDC3-33EF-6681-9D85838DA450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570012"/>
            <a:ext cx="7613063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Business Model &amp; Unit Economics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98185" y="1487388"/>
            <a:ext cx="3478423" cy="1369417"/>
          </a:xfrm>
          <a:prstGeom prst="roundRect">
            <a:avLst>
              <a:gd name="adj" fmla="val 581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94038" y="1683246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Free — $0/mo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94038" y="2069802"/>
            <a:ext cx="30867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Limited scans, basic output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56586" y="1487388"/>
            <a:ext cx="3478423" cy="1369417"/>
          </a:xfrm>
          <a:prstGeom prst="roundRect">
            <a:avLst>
              <a:gd name="adj" fmla="val 581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52439" y="1683246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 — $15/mo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52439" y="2069802"/>
            <a:ext cx="308671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Unlimited scans, exports, integrations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14988" y="1487388"/>
            <a:ext cx="3478522" cy="1369417"/>
          </a:xfrm>
          <a:prstGeom prst="roundRect">
            <a:avLst>
              <a:gd name="adj" fmla="val 5812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10841" y="1683246"/>
            <a:ext cx="222939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Team — $50/mo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10841" y="2069802"/>
            <a:ext cx="308681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Collaboration, CI/CD integration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98185" y="3059311"/>
            <a:ext cx="10795325" cy="2109391"/>
          </a:xfrm>
          <a:prstGeom prst="roundRect">
            <a:avLst>
              <a:gd name="adj" fmla="val 377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535" y="3065661"/>
            <a:ext cx="10782626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137" y="3179961"/>
            <a:ext cx="34621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Channel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32060" y="3179961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72929" y="3179961"/>
            <a:ext cx="194940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LTV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98101" y="3179961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LTV:CAC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738970" y="3179961"/>
            <a:ext cx="21682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Payback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4535" y="3589834"/>
            <a:ext cx="10782626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4137" y="3704134"/>
            <a:ext cx="34621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GitHub outreach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32060" y="3704134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072929" y="3704134"/>
            <a:ext cx="194940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$120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98101" y="3704134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24:1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738970" y="3704134"/>
            <a:ext cx="21682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0.33 mo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04535" y="4114006"/>
            <a:ext cx="10782626" cy="5241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4137" y="4228306"/>
            <a:ext cx="34621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University / community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132060" y="4228306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$2.50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072929" y="4228306"/>
            <a:ext cx="194940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$120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798101" y="4228306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48:1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738970" y="4228306"/>
            <a:ext cx="21682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0.17 mo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04535" y="4638179"/>
            <a:ext cx="10782626" cy="5241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4137" y="4752479"/>
            <a:ext cx="346215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LinkedIn outreach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132060" y="4752479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$20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072929" y="4752479"/>
            <a:ext cx="194940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$120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798101" y="4752479"/>
            <a:ext cx="2165097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6:1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738970" y="4752479"/>
            <a:ext cx="21682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1.33 mo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98185" y="5371207"/>
            <a:ext cx="10795325" cy="714276"/>
          </a:xfrm>
          <a:prstGeom prst="roundRect">
            <a:avLst>
              <a:gd name="adj" fmla="val 1114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88" y="5638998"/>
            <a:ext cx="236829" cy="18950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314020" y="5580559"/>
            <a:ext cx="105995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Month-12 projection:</a:t>
            </a:r>
            <a:r>
              <a:rPr lang="en-US" sz="14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206 paid users | $3,090 MRR | $1,195 monthly profit — pre-revenue today, monetization planned.</a:t>
            </a:r>
            <a:endParaRPr lang="en-US" sz="14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35A87D-399F-3AE7-49B5-A83CFE90FC29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794544"/>
            <a:ext cx="4599071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Competition &amp; Moat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185" y="1581448"/>
            <a:ext cx="1079532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 competitor requires manual setup, annotations, or configuration. Driftless is the only solution that reads the implementation directly — zero friction, compiler-accurate output.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185" y="2245420"/>
            <a:ext cx="10795325" cy="3818037"/>
          </a:xfrm>
          <a:prstGeom prst="roundRect">
            <a:avLst>
              <a:gd name="adj" fmla="val 186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535" y="2251770"/>
            <a:ext cx="10782626" cy="6873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4095" y="2344539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9432" y="2344539"/>
            <a:ext cx="105645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Auto-discovery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51159" y="2344539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.NET native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52887" y="2344539"/>
            <a:ext cx="105645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Real-time sync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4614" y="2344539"/>
            <a:ext cx="105645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Zero annotation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56342" y="2344539"/>
            <a:ext cx="105645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TypeScript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58069" y="2344539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Free tier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535" y="2939157"/>
            <a:ext cx="10782626" cy="4364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4095" y="3031927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Swagger/Swashbuckle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9432" y="3031927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51159" y="3031927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52887" y="3031927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4614" y="3031927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56342" y="3031927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58069" y="3031927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535" y="3375620"/>
            <a:ext cx="10782626" cy="4364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4095" y="3468390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Postman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9432" y="346839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51159" y="346839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52887" y="346839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4614" y="346839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56342" y="346839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58069" y="3468390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535" y="3812084"/>
            <a:ext cx="10782626" cy="4364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4095" y="3904853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NSwag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9432" y="390485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51159" y="390485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52887" y="390485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54614" y="390485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56342" y="390485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58069" y="3904853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4535" y="4248547"/>
            <a:ext cx="10782626" cy="4364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4095" y="4341316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Stoplight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49432" y="4341316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51159" y="4341316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52887" y="4341316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54614" y="4341316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56342" y="4341316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58069" y="4341316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04535" y="4685010"/>
            <a:ext cx="10782626" cy="4364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4095" y="4777780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Readme.com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49432" y="477778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51159" y="477778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052887" y="477778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454614" y="477778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856342" y="4777780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258069" y="4777780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4535" y="5121473"/>
            <a:ext cx="10782626" cy="4364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74095" y="5214243"/>
            <a:ext cx="263964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Redocly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249432" y="521424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651159" y="521424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052887" y="521424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54614" y="521424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856342" y="5214243"/>
            <a:ext cx="166604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0258069" y="5214243"/>
            <a:ext cx="1669214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04535" y="5557937"/>
            <a:ext cx="10782626" cy="4991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74095" y="5650706"/>
            <a:ext cx="263964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DRIFTLESS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3249432" y="5650706"/>
            <a:ext cx="16660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4651159" y="5650706"/>
            <a:ext cx="16660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6052887" y="5650706"/>
            <a:ext cx="16660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7454614" y="5650706"/>
            <a:ext cx="16660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8856342" y="5650706"/>
            <a:ext cx="166604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0258069" y="5650706"/>
            <a:ext cx="16692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✓</a:t>
            </a:r>
            <a:endParaRPr lang="en-US" sz="165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97832B-2FC8-ABA2-7C20-7F4435A98CD6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767755"/>
            <a:ext cx="531551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Roadmap to Month 18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185" y="3921820"/>
            <a:ext cx="10795325" cy="25400"/>
          </a:xfrm>
          <a:prstGeom prst="roundRect">
            <a:avLst>
              <a:gd name="adj" fmla="val 329848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69622" y="3323481"/>
            <a:ext cx="25399" cy="598388"/>
          </a:xfrm>
          <a:prstGeom prst="roundRect">
            <a:avLst>
              <a:gd name="adj" fmla="val 329861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57994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41534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8990" y="1753394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✓ Sprint 1 — Complete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610" y="2166342"/>
            <a:ext cx="376962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Public repo analysis ·  Roslyn extraction · TypeScript generation ·  Live dashboard deployed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978474" y="3921770"/>
            <a:ext cx="25399" cy="598388"/>
          </a:xfrm>
          <a:prstGeom prst="roundRect">
            <a:avLst>
              <a:gd name="adj" fmla="val 329861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66846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50386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17941" y="4719737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Sprint 2 — 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6461" y="5132685"/>
            <a:ext cx="376972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Private repos (GitHub OAuth) ·  Breaking change detection ·  CI/CD integration · OpenAPI export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87425" y="3323481"/>
            <a:ext cx="25399" cy="598388"/>
          </a:xfrm>
          <a:prstGeom prst="roundRect">
            <a:avLst>
              <a:gd name="adj" fmla="val 329861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75797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59337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26892" y="1753394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Sprint 3 — Expansion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15412" y="2166342"/>
            <a:ext cx="376972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FastAPI &amp; Express.js support ·  Multi-framework dashboard ·  Team collaboration features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396376" y="3921770"/>
            <a:ext cx="25399" cy="598388"/>
          </a:xfrm>
          <a:prstGeom prst="roundRect">
            <a:avLst>
              <a:gd name="adj" fmla="val 329861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84748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68288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58801" y="4719737"/>
            <a:ext cx="3500846" cy="31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🎯</a:t>
            </a: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Funded Milestone — Month 18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24363" y="5151735"/>
            <a:ext cx="376972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500 paying users ·  $7,500 MRR ·  3 institutional pilots</a:t>
            </a:r>
            <a:endParaRPr lang="en-US" sz="15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A308BE-FF9C-D133-8433-CD722097F50B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1573609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The Team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5" y="2559248"/>
            <a:ext cx="1105170" cy="1105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185" y="3913783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Nikoloz Topuridze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185" y="4326731"/>
            <a:ext cx="25117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Tech Lead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Built the Roslyn extraction pipeline and backend API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2559248"/>
            <a:ext cx="1105170" cy="1105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913783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Toma Danelia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4326731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Discovery Lead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6 interviews, 10 validators, ICP framework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2559248"/>
            <a:ext cx="1105170" cy="11051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913783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Giorgi Tkebuchava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4326731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Program Lead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Growth strategy, financial model, unit economics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2559248"/>
            <a:ext cx="1105170" cy="11051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913783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Nikoloz Bujiashvili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4326731"/>
            <a:ext cx="25118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Design Lead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High-fidelity prototype, 5-participant usability study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A47C24-29A4-BBC7-DC7A-B640170E9BB3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85" y="938312"/>
            <a:ext cx="588689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We Are Raising </a:t>
            </a:r>
            <a:r>
              <a:rPr lang="en-US" sz="365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$25,000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54619" y="1824137"/>
            <a:ext cx="7697893" cy="3166368"/>
          </a:xfrm>
          <a:prstGeom prst="roundRect">
            <a:avLst>
              <a:gd name="adj" fmla="val 4536"/>
            </a:avLst>
          </a:prstGeom>
          <a:solidFill>
            <a:srgbClr val="4D4D4D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4044" y="2023566"/>
            <a:ext cx="29563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4044" y="2541191"/>
            <a:ext cx="7299043" cy="1726307"/>
          </a:xfrm>
          <a:prstGeom prst="roundRect">
            <a:avLst>
              <a:gd name="adj" fmla="val 485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0393" y="2547541"/>
            <a:ext cx="7286343" cy="5712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9917" y="2673548"/>
            <a:ext cx="49436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Infrastructure &amp; compliance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699181" y="2673548"/>
            <a:ext cx="275771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$8,000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60393" y="3118743"/>
            <a:ext cx="7286343" cy="5712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9917" y="3244751"/>
            <a:ext cx="49436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Multi-framework development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99181" y="3244751"/>
            <a:ext cx="275771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$12,000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60393" y="3689945"/>
            <a:ext cx="7286343" cy="5712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9917" y="3815953"/>
            <a:ext cx="49436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Institutional pilot program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699181" y="3815953"/>
            <a:ext cx="275771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$5,000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4044" y="4491831"/>
            <a:ext cx="790862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Pre-money valuation: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$100,000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· Dilution: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20%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58286" y="1824137"/>
            <a:ext cx="3185140" cy="3166368"/>
          </a:xfrm>
          <a:prstGeom prst="roundRect">
            <a:avLst>
              <a:gd name="adj" fmla="val 4536"/>
            </a:avLst>
          </a:prstGeom>
          <a:solidFill>
            <a:srgbClr val="00000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57711" y="2023566"/>
            <a:ext cx="278629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Funded Milestone Month 18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57711" y="2809577"/>
            <a:ext cx="2786290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Pre-revenue. Deployed product. Validated pain. Clear path.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driftless.nikatopu.dev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98185" y="5214838"/>
            <a:ext cx="3465426" cy="704850"/>
          </a:xfrm>
          <a:prstGeom prst="roundRect">
            <a:avLst>
              <a:gd name="adj" fmla="val 11886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3959" y="542061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500 paying users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63035" y="5214838"/>
            <a:ext cx="3465525" cy="704850"/>
          </a:xfrm>
          <a:prstGeom prst="roundRect">
            <a:avLst>
              <a:gd name="adj" fmla="val 11886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68810" y="542061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$7,500 MRR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27985" y="5214838"/>
            <a:ext cx="3465426" cy="704850"/>
          </a:xfrm>
          <a:prstGeom prst="roundRect">
            <a:avLst>
              <a:gd name="adj" fmla="val 11886"/>
            </a:avLst>
          </a:prstGeom>
          <a:solidFill>
            <a:srgbClr val="7E023C"/>
          </a:solidFill>
          <a:ln w="635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33760" y="542061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 institutional pilots</a:t>
            </a:r>
            <a:endParaRPr lang="en-US" sz="1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BB5690-6089-4BDE-D583-363C8367AC5C}"/>
              </a:ext>
            </a:extLst>
          </p:cNvPr>
          <p:cNvSpPr/>
          <p:nvPr/>
        </p:nvSpPr>
        <p:spPr>
          <a:xfrm>
            <a:off x="10971732" y="6409426"/>
            <a:ext cx="1220268" cy="44331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Overpass Bold</vt:lpstr>
      <vt:lpstr>Arial</vt:lpstr>
      <vt:lpstr>Overpass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Niko topu</cp:lastModifiedBy>
  <cp:revision>2</cp:revision>
  <dcterms:created xsi:type="dcterms:W3CDTF">2026-06-10T17:10:30Z</dcterms:created>
  <dcterms:modified xsi:type="dcterms:W3CDTF">2026-06-10T17:13:08Z</dcterms:modified>
</cp:coreProperties>
</file>